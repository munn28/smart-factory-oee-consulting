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12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KPI</c:v>
                </c:pt>
              </c:strCache>
            </c:strRef>
          </c:tx>
          <c:spPr>
            <a:solidFill>
              <a:srgbClr val="1F4E7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Availability</c:v>
                </c:pt>
                <c:pt idx="1">
                  <c:v>Performance</c:v>
                </c:pt>
                <c:pt idx="2">
                  <c:v>Quality</c:v>
                </c:pt>
                <c:pt idx="3">
                  <c:v>OEE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96.39</c:v>
                </c:pt>
                <c:pt idx="1">
                  <c:v>93.21</c:v>
                </c:pt>
                <c:pt idx="2">
                  <c:v>98.28</c:v>
                </c:pt>
                <c:pt idx="3">
                  <c:v>88.3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F09-4AB5-BA05-2EBA196C982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8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OEE</c:v>
                </c:pt>
              </c:strCache>
            </c:strRef>
          </c:tx>
          <c:spPr>
            <a:solidFill>
              <a:srgbClr val="1F4E7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CNC</c:v>
                </c:pt>
                <c:pt idx="1">
                  <c:v>Robot</c:v>
                </c:pt>
                <c:pt idx="2">
                  <c:v>Inspection</c:v>
                </c:pt>
                <c:pt idx="3">
                  <c:v>Assembly</c:v>
                </c:pt>
                <c:pt idx="4">
                  <c:v>Packaging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89</c:v>
                </c:pt>
                <c:pt idx="1">
                  <c:v>88.31</c:v>
                </c:pt>
                <c:pt idx="2">
                  <c:v>88.06</c:v>
                </c:pt>
                <c:pt idx="3">
                  <c:v>85.46</c:v>
                </c:pt>
                <c:pt idx="4">
                  <c:v>90.6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A8A-4BDE-85BE-E69D6A4D8EE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5"/>
          <c:min val="8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Constraint Shifts</c:v>
                </c:pt>
              </c:strCache>
            </c:strRef>
          </c:tx>
          <c:spPr>
            <a:solidFill>
              <a:srgbClr val="ED7D3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Assembly &amp; Testing</c:v>
                </c:pt>
                <c:pt idx="1">
                  <c:v>Other stations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88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B81-403C-934B-00B14C4B49D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3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8446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35659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Smart Factory Production Performance &amp; OEE Improvement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67511" y="2011680"/>
            <a:ext cx="10496119" cy="0"/>
          </a:xfrm>
          <a:prstGeom prst="line">
            <a:avLst/>
          </a:prstGeom>
          <a:noFill/>
          <a:ln w="31750">
            <a:solidFill>
              <a:srgbClr val="ED7D31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" name="Text 3"/>
          <p:cNvSpPr/>
          <p:nvPr/>
        </p:nvSpPr>
        <p:spPr>
          <a:xfrm>
            <a:off x="667512" y="22402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1F1F"/>
                </a:solidFill>
              </a:rPr>
              <a:t>Fictional client: NexaMotion Components GmbH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633870" y="3504535"/>
            <a:ext cx="21945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79"/>
                </a:solidFill>
              </a:rPr>
              <a:t>88.30%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633870" y="3925159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1F1F"/>
                </a:solidFill>
              </a:rPr>
              <a:t>Overall OEE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633870" y="4202659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A5A5A"/>
                </a:solidFill>
              </a:rPr>
              <a:t>30-working-day simulated baseline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74150" y="3504535"/>
            <a:ext cx="21945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D7D31"/>
                </a:solidFill>
              </a:rPr>
              <a:t>ST04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74150" y="3925159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1F1F"/>
                </a:solidFill>
              </a:rPr>
              <a:t>Primary constraint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74150" y="4202659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A5A5A"/>
                </a:solidFill>
              </a:rPr>
              <a:t>Assembly &amp; Testing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114430" y="3504535"/>
            <a:ext cx="21945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0AD47"/>
                </a:solidFill>
              </a:rPr>
              <a:t>3.28 mo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114430" y="3925159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1F1F"/>
                </a:solidFill>
              </a:rPr>
              <a:t>Payback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114430" y="4202659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A5A5A"/>
                </a:solidFill>
              </a:rPr>
              <a:t>Simulated Phase 1 case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653796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77777"/>
                </a:solidFill>
              </a:rPr>
              <a:t>Synthetic portfolio case | Smart Factory Production Performance &amp; OEE Improvement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1475720" y="653796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77777"/>
                </a:solidFill>
              </a:rPr>
              <a:t>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Case context and analytical objective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2700">
            <a:solidFill>
              <a:srgbClr val="D9E1F2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24D"/>
                </a:solidFill>
              </a:rPr>
              <a:t>Production line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1645920"/>
            <a:ext cx="1874520" cy="685800"/>
          </a:xfrm>
          <a:prstGeom prst="rect">
            <a:avLst/>
          </a:prstGeom>
          <a:solidFill>
            <a:srgbClr val="F6F8FA"/>
          </a:solidFill>
          <a:ln w="9525">
            <a:solidFill>
              <a:srgbClr val="D9E1F2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17324D"/>
                </a:solidFill>
              </a:rPr>
              <a:t>ST01</a:t>
            </a:r>
            <a:endParaRPr lang="en-US" sz="1030" dirty="0"/>
          </a:p>
          <a:p>
            <a:pPr marL="0" indent="0" algn="ctr">
              <a:buNone/>
            </a:pPr>
            <a:r>
              <a:rPr lang="en-US" sz="1030" b="1" dirty="0">
                <a:solidFill>
                  <a:srgbClr val="17324D"/>
                </a:solidFill>
              </a:rPr>
              <a:t>CNC Machining</a:t>
            </a:r>
            <a:endParaRPr lang="en-US" sz="1030" dirty="0"/>
          </a:p>
        </p:txBody>
      </p:sp>
      <p:sp>
        <p:nvSpPr>
          <p:cNvPr id="7" name="Text 5"/>
          <p:cNvSpPr/>
          <p:nvPr/>
        </p:nvSpPr>
        <p:spPr>
          <a:xfrm>
            <a:off x="2587752" y="1847088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5A5A"/>
                </a:solidFill>
              </a:rPr>
              <a:t>→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834640" y="1645920"/>
            <a:ext cx="1874520" cy="685800"/>
          </a:xfrm>
          <a:prstGeom prst="rect">
            <a:avLst/>
          </a:prstGeom>
          <a:solidFill>
            <a:srgbClr val="F6F8FA"/>
          </a:solidFill>
          <a:ln w="9525">
            <a:solidFill>
              <a:srgbClr val="D9E1F2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17324D"/>
                </a:solidFill>
              </a:rPr>
              <a:t>ST02</a:t>
            </a:r>
            <a:endParaRPr lang="en-US" sz="1030" dirty="0"/>
          </a:p>
          <a:p>
            <a:pPr marL="0" indent="0" algn="ctr">
              <a:buNone/>
            </a:pPr>
            <a:r>
              <a:rPr lang="en-US" sz="1030" b="1" dirty="0">
                <a:solidFill>
                  <a:srgbClr val="17324D"/>
                </a:solidFill>
              </a:rPr>
              <a:t>Robot Handling</a:t>
            </a:r>
            <a:endParaRPr lang="en-US" sz="1030" dirty="0"/>
          </a:p>
        </p:txBody>
      </p:sp>
      <p:sp>
        <p:nvSpPr>
          <p:cNvPr id="9" name="Text 7"/>
          <p:cNvSpPr/>
          <p:nvPr/>
        </p:nvSpPr>
        <p:spPr>
          <a:xfrm>
            <a:off x="4736592" y="1847088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5A5A"/>
                </a:solidFill>
              </a:rPr>
              <a:t>→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83480" y="1645920"/>
            <a:ext cx="1874520" cy="685800"/>
          </a:xfrm>
          <a:prstGeom prst="rect">
            <a:avLst/>
          </a:prstGeom>
          <a:solidFill>
            <a:srgbClr val="F6F8FA"/>
          </a:solidFill>
          <a:ln w="9525">
            <a:solidFill>
              <a:srgbClr val="D9E1F2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17324D"/>
                </a:solidFill>
              </a:rPr>
              <a:t>ST03</a:t>
            </a:r>
            <a:endParaRPr lang="en-US" sz="1030" dirty="0"/>
          </a:p>
          <a:p>
            <a:pPr marL="0" indent="0" algn="ctr">
              <a:buNone/>
            </a:pPr>
            <a:r>
              <a:rPr lang="en-US" sz="1030" b="1" dirty="0">
                <a:solidFill>
                  <a:srgbClr val="17324D"/>
                </a:solidFill>
              </a:rPr>
              <a:t>Quality Inspection</a:t>
            </a:r>
            <a:endParaRPr lang="en-US" sz="1030" dirty="0"/>
          </a:p>
        </p:txBody>
      </p:sp>
      <p:sp>
        <p:nvSpPr>
          <p:cNvPr id="11" name="Text 9"/>
          <p:cNvSpPr/>
          <p:nvPr/>
        </p:nvSpPr>
        <p:spPr>
          <a:xfrm>
            <a:off x="6885432" y="1847088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5A5A"/>
                </a:solidFill>
              </a:rPr>
              <a:t>→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132320" y="1645920"/>
            <a:ext cx="1874520" cy="685800"/>
          </a:xfrm>
          <a:prstGeom prst="rect">
            <a:avLst/>
          </a:prstGeom>
          <a:solidFill>
            <a:srgbClr val="FFF2CC"/>
          </a:solidFill>
          <a:ln w="9525">
            <a:solidFill>
              <a:srgbClr val="ED7D31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ED7D31"/>
                </a:solidFill>
              </a:rPr>
              <a:t>ST04</a:t>
            </a:r>
            <a:endParaRPr lang="en-US" sz="1030" dirty="0"/>
          </a:p>
          <a:p>
            <a:pPr marL="0" indent="0" algn="ctr">
              <a:buNone/>
            </a:pPr>
            <a:r>
              <a:rPr lang="en-US" sz="1030" b="1" dirty="0">
                <a:solidFill>
                  <a:srgbClr val="ED7D31"/>
                </a:solidFill>
              </a:rPr>
              <a:t>Assembly &amp; Testing</a:t>
            </a:r>
            <a:endParaRPr lang="en-US" sz="1030" dirty="0"/>
          </a:p>
        </p:txBody>
      </p:sp>
      <p:sp>
        <p:nvSpPr>
          <p:cNvPr id="13" name="Text 11"/>
          <p:cNvSpPr/>
          <p:nvPr/>
        </p:nvSpPr>
        <p:spPr>
          <a:xfrm>
            <a:off x="9034272" y="1847088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5A5A"/>
                </a:solidFill>
              </a:rPr>
              <a:t>→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281160" y="1645920"/>
            <a:ext cx="1874520" cy="685800"/>
          </a:xfrm>
          <a:prstGeom prst="rect">
            <a:avLst/>
          </a:prstGeom>
          <a:solidFill>
            <a:srgbClr val="F6F8FA"/>
          </a:solidFill>
          <a:ln w="9525">
            <a:solidFill>
              <a:srgbClr val="D9E1F2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17324D"/>
                </a:solidFill>
              </a:rPr>
              <a:t>ST05</a:t>
            </a:r>
            <a:endParaRPr lang="en-US" sz="1030" dirty="0"/>
          </a:p>
          <a:p>
            <a:pPr marL="0" indent="0" algn="ctr">
              <a:buNone/>
            </a:pPr>
            <a:r>
              <a:rPr lang="en-US" sz="1030" b="1" dirty="0">
                <a:solidFill>
                  <a:srgbClr val="17324D"/>
                </a:solidFill>
              </a:rPr>
              <a:t>Packaging</a:t>
            </a:r>
            <a:endParaRPr lang="en-US" sz="1030" dirty="0"/>
          </a:p>
        </p:txBody>
      </p:sp>
      <p:sp>
        <p:nvSpPr>
          <p:cNvPr id="15" name="Text 13"/>
          <p:cNvSpPr/>
          <p:nvPr/>
        </p:nvSpPr>
        <p:spPr>
          <a:xfrm>
            <a:off x="594360" y="29718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24D"/>
                </a:solidFill>
              </a:rPr>
              <a:t>Consulting question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" y="3310128"/>
            <a:ext cx="101498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F1F1F"/>
                </a:solidFill>
              </a:rPr>
              <a:t>Which process losses should management prioritize to improve finished-goods throughput and business performance?</a:t>
            </a:r>
            <a:endParaRPr lang="en-US" sz="15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4206240"/>
          <a:ext cx="10789920" cy="585216"/>
        </p:xfrm>
        <a:graphic>
          <a:graphicData uri="http://schemas.openxmlformats.org/drawingml/2006/table">
            <a:tbl>
              <a:tblPr/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Input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Analytical method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Output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Synthetic production, downtime and maintenance data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OEE, Pareto, bottleneck, root-cause and ROI analysis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Prioritized implementation roadmap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502920" y="653796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77777"/>
                </a:solidFill>
              </a:rPr>
              <a:t>Synthetic portfolio case | Smart Factory Production Performance &amp; OEE Improvement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11475720" y="653796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77777"/>
                </a:solidFill>
              </a:rPr>
              <a:t>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Performance baseline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2700">
            <a:solidFill>
              <a:srgbClr val="D9E1F2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21031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4E79"/>
                </a:solidFill>
              </a:rPr>
              <a:t>88.30%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85800" y="183794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1F1F"/>
                </a:solidFill>
              </a:rPr>
              <a:t>OEE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88920" y="1417320"/>
            <a:ext cx="21031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70AD47"/>
                </a:solidFill>
              </a:rPr>
              <a:t>96.39%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2788920" y="183794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1F1F"/>
                </a:solidFill>
              </a:rPr>
              <a:t>Availability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892040" y="1417320"/>
            <a:ext cx="21031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D7D31"/>
                </a:solidFill>
              </a:rPr>
              <a:t>93.21%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4892040" y="183794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1F1F"/>
                </a:solidFill>
              </a:rPr>
              <a:t>Performance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892040" y="207568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5A5A5A"/>
                </a:solidFill>
              </a:rPr>
              <a:t>Largest OEE component loss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6995160" y="1417320"/>
            <a:ext cx="21031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4E79"/>
                </a:solidFill>
              </a:rPr>
              <a:t>98.28%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995160" y="183794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1F1F"/>
                </a:solidFill>
              </a:rPr>
              <a:t>Quality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098280" y="1417320"/>
            <a:ext cx="9601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1F1F"/>
                </a:solidFill>
              </a:rPr>
              <a:t>9.74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9098280" y="1837944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1F1F"/>
                </a:solidFill>
              </a:rPr>
              <a:t>MTBF (h)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378440" y="1417320"/>
            <a:ext cx="9601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1F1F"/>
                </a:solidFill>
              </a:rPr>
              <a:t>12.45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0378440" y="1837944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1F1F"/>
                </a:solidFill>
              </a:rPr>
              <a:t>MTTR (min)</a:t>
            </a:r>
            <a:endParaRPr lang="en-US" sz="900" dirty="0"/>
          </a:p>
        </p:txBody>
      </p:sp>
      <p:graphicFrame>
        <p:nvGraphicFramePr>
          <p:cNvPr id="18" name="Chart 0"/>
          <p:cNvGraphicFramePr/>
          <p:nvPr/>
        </p:nvGraphicFramePr>
        <p:xfrm>
          <a:off x="685800" y="2788920"/>
          <a:ext cx="5577840" cy="3063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9" name="Text 16"/>
          <p:cNvSpPr/>
          <p:nvPr/>
        </p:nvSpPr>
        <p:spPr>
          <a:xfrm>
            <a:off x="6903720" y="2880360"/>
            <a:ext cx="438912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</a:rPr>
              <a:t>• Plant-level performance loss is larger than availability or quality loss.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</a:rPr>
              <a:t>• Station-level diagnosis is required before selecting improvements.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</a:rPr>
              <a:t>• The analysis separates downtime problems from true line constraints.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903720" y="254203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324D"/>
                </a:solidFill>
              </a:rPr>
              <a:t>Baseline interpretation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02920" y="653796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77777"/>
                </a:solidFill>
              </a:rPr>
              <a:t>Synthetic portfolio case | Smart Factory Production Performance &amp; OEE Improvement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11475720" y="653796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77777"/>
                </a:solidFill>
              </a:rPr>
              <a:t>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Loss diagnosis by station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2700">
            <a:solidFill>
              <a:srgbClr val="D9E1F2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graphicFrame>
        <p:nvGraphicFramePr>
          <p:cNvPr id="5" name="Chart 0"/>
          <p:cNvGraphicFramePr/>
          <p:nvPr/>
        </p:nvGraphicFramePr>
        <p:xfrm>
          <a:off x="685800" y="1325880"/>
          <a:ext cx="576072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29400" y="1371600"/>
          <a:ext cx="4846320" cy="1170432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Station</a:t>
                      </a:r>
                      <a:endParaRPr lang="en-US" sz="8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Primary loss</a:t>
                      </a:r>
                      <a:endParaRPr lang="en-US" sz="8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Evidence</a:t>
                      </a:r>
                      <a:endParaRPr lang="en-US" sz="8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1F1F1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ST02 Robot Handling</a:t>
                      </a:r>
                      <a:endParaRPr lang="en-US" sz="8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1F1F1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Availability / reliability</a:t>
                      </a:r>
                      <a:endParaRPr lang="en-US" sz="8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1F1F1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Highest downtime: 1,993.35 min</a:t>
                      </a:r>
                      <a:endParaRPr lang="en-US" sz="8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1F1F1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ST03 Quality Inspection</a:t>
                      </a:r>
                      <a:endParaRPr lang="en-US" sz="8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1F1F1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Quality</a:t>
                      </a:r>
                      <a:endParaRPr lang="en-US" sz="8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1F1F1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Lowest quality: 96.81%</a:t>
                      </a:r>
                      <a:endParaRPr lang="en-US" sz="8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1F1F1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ST04 Assembly &amp; Testing</a:t>
                      </a:r>
                      <a:endParaRPr lang="en-US" sz="8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1F1F1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Performance / throughput</a:t>
                      </a:r>
                      <a:endParaRPr lang="en-US" sz="8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1F1F1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Lowest OEE: 85.46%</a:t>
                      </a:r>
                      <a:endParaRPr lang="en-US" sz="8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6629400" y="36576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24D"/>
                </a:solidFill>
              </a:rPr>
              <a:t>Main insight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6629400" y="4041648"/>
            <a:ext cx="484632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</a:rPr>
              <a:t>The station with the most downtime is not automatically the bottleneck. ST04 constrains throughput despite ST02 generating the most downtime.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02920" y="653796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77777"/>
                </a:solidFill>
              </a:rPr>
              <a:t>Synthetic portfolio case | Smart Factory Production Performance &amp; OEE Improvement</a:t>
            </a:r>
            <a:endParaRPr lang="en-US" sz="750" dirty="0"/>
          </a:p>
        </p:txBody>
      </p:sp>
      <p:sp>
        <p:nvSpPr>
          <p:cNvPr id="10" name="Text 6"/>
          <p:cNvSpPr/>
          <p:nvPr/>
        </p:nvSpPr>
        <p:spPr>
          <a:xfrm>
            <a:off x="11475720" y="653796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77777"/>
                </a:solidFill>
              </a:rPr>
              <a:t>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Bottleneck and root-cause indicators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2700">
            <a:solidFill>
              <a:srgbClr val="D9E1F2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24688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D7D31"/>
                </a:solidFill>
              </a:rPr>
              <a:t>97.78%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85800" y="183794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1F1F"/>
                </a:solidFill>
              </a:rPr>
              <a:t>Line constraint share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207568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5A5A5A"/>
                </a:solidFill>
              </a:rPr>
              <a:t>ST04 constrained nearly all observed shifts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3429000" y="1417320"/>
            <a:ext cx="23774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7324D"/>
                </a:solidFill>
              </a:rPr>
              <a:t>C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3429000" y="183794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1F1F"/>
                </a:solidFill>
              </a:rPr>
              <a:t>Slowest shift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429000" y="207568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5A5A5A"/>
                </a:solidFill>
              </a:rPr>
              <a:t>80.58 sec mean ST04 cycle</a:t>
            </a:r>
            <a:endParaRPr lang="en-US" sz="720" dirty="0"/>
          </a:p>
        </p:txBody>
      </p:sp>
      <p:sp>
        <p:nvSpPr>
          <p:cNvPr id="11" name="Text 9"/>
          <p:cNvSpPr/>
          <p:nvPr/>
        </p:nvSpPr>
        <p:spPr>
          <a:xfrm>
            <a:off x="5852160" y="1417320"/>
            <a:ext cx="25603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7324D"/>
                </a:solidFill>
              </a:rPr>
              <a:t>ACT-300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5852160" y="183794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1F1F"/>
                </a:solidFill>
              </a:rPr>
              <a:t>Slowest product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852160" y="20756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5A5A5A"/>
                </a:solidFill>
              </a:rPr>
              <a:t>82.23 sec mean ST04 cycle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8732520" y="1417320"/>
            <a:ext cx="23774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C00000"/>
                </a:solidFill>
              </a:rPr>
              <a:t>439.6 min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8732520" y="183794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1F1F"/>
                </a:solidFill>
              </a:rPr>
              <a:t>Top ST04 downtime cause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732520" y="207568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5A5A5A"/>
                </a:solidFill>
              </a:rPr>
              <a:t>Functional Test Failure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685800" y="310896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324D"/>
                </a:solidFill>
              </a:rPr>
              <a:t>Evidence-based root-cause direction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" y="3520440"/>
            <a:ext cx="516636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F1F1F"/>
                </a:solidFill>
              </a:rPr>
              <a:t>• Investigate element-level work content and cycle variation at ST04.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1F1F1F"/>
                </a:solidFill>
              </a:rPr>
              <a:t>• Compare Shift C work sequence, support availability and standard work adherence.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1F1F1F"/>
                </a:solidFill>
              </a:rPr>
              <a:t>• Analyze ACT-300 assembly/test sequence before adding new capacity.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1F1F1F"/>
                </a:solidFill>
              </a:rPr>
              <a:t>• Review functional-test failures as a separate availability loss within ST04.</a:t>
            </a:r>
            <a:endParaRPr lang="en-US" sz="1120" dirty="0"/>
          </a:p>
        </p:txBody>
      </p:sp>
      <p:graphicFrame>
        <p:nvGraphicFramePr>
          <p:cNvPr id="19" name="Chart 0"/>
          <p:cNvGraphicFramePr/>
          <p:nvPr/>
        </p:nvGraphicFramePr>
        <p:xfrm>
          <a:off x="6629400" y="3154680"/>
          <a:ext cx="45720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0" name="Text 17"/>
          <p:cNvSpPr/>
          <p:nvPr/>
        </p:nvSpPr>
        <p:spPr>
          <a:xfrm>
            <a:off x="502920" y="653796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77777"/>
                </a:solidFill>
              </a:rPr>
              <a:t>Synthetic portfolio case | Smart Factory Production Performance &amp; OEE Improvement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11475720" y="653796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77777"/>
                </a:solidFill>
              </a:rPr>
              <a:t>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Reliability quick win: ST02 Part Presence Sensor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2700">
            <a:solidFill>
              <a:srgbClr val="D9E1F2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" name="Text 3"/>
          <p:cNvSpPr/>
          <p:nvPr/>
        </p:nvSpPr>
        <p:spPr>
          <a:xfrm>
            <a:off x="685800" y="1371600"/>
            <a:ext cx="20116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4E79"/>
                </a:solidFill>
              </a:rPr>
              <a:t>49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85800" y="179222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1F1F"/>
                </a:solidFill>
              </a:rPr>
              <a:t>Events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20299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5A5A5A"/>
                </a:solidFill>
              </a:rPr>
              <a:t>30-working-day period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2834640" y="1371600"/>
            <a:ext cx="21945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C00000"/>
                </a:solidFill>
              </a:rPr>
              <a:t>635.46 min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2834640" y="179222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1F1F"/>
                </a:solidFill>
              </a:rPr>
              <a:t>Downtime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834640" y="20299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5A5A5A"/>
                </a:solidFill>
              </a:rPr>
              <a:t>10.59 hours</a:t>
            </a:r>
            <a:endParaRPr lang="en-US" sz="720" dirty="0"/>
          </a:p>
        </p:txBody>
      </p:sp>
      <p:sp>
        <p:nvSpPr>
          <p:cNvPr id="11" name="Text 9"/>
          <p:cNvSpPr/>
          <p:nvPr/>
        </p:nvSpPr>
        <p:spPr>
          <a:xfrm>
            <a:off x="5394960" y="1371600"/>
            <a:ext cx="21945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D7D31"/>
                </a:solidFill>
              </a:rPr>
              <a:t>33.07%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5394960" y="179222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1F1F"/>
                </a:solidFill>
              </a:rPr>
              <a:t>Share of ST02 unplanned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94960" y="20299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5A5A5A"/>
                </a:solidFill>
              </a:rPr>
              <a:t>One failure mode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8138160" y="1371600"/>
            <a:ext cx="20116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7324D"/>
                </a:solidFill>
              </a:rPr>
              <a:t>12.97 min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8138160" y="179222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1F1F"/>
                </a:solidFill>
              </a:rPr>
              <a:t>Average event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138160" y="20299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5A5A5A"/>
                </a:solidFill>
              </a:rPr>
              <a:t>Frequency + recovery problem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685800" y="30632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324D"/>
                </a:solidFill>
              </a:rPr>
              <a:t>Interpretation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" y="3456432"/>
            <a:ext cx="530352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F1F1F"/>
                </a:solidFill>
              </a:rPr>
              <a:t>The sensor issue is a concentrated reliability loss. However, the business case shows no immediate finished-output gain while ST04 remains the active constraint.</a:t>
            </a:r>
            <a:endParaRPr lang="en-US" sz="13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29400" y="2971800"/>
          <a:ext cx="4754880" cy="1170432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Improvement lever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Purpose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F1F1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Sensor inspection and mounting check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F1F1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Reduce recurrence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F1F1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PLC diagnostics / alarm clarity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F1F1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Shorten fault identification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F1F1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Standard recovery procedure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F1F1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Reduce recovery duration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502920" y="653796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77777"/>
                </a:solidFill>
              </a:rPr>
              <a:t>Synthetic portfolio case | Smart Factory Production Performance &amp; OEE Improvement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11475720" y="653796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77777"/>
                </a:solidFill>
              </a:rPr>
              <a:t>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Recommendation and business case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2700">
            <a:solidFill>
              <a:srgbClr val="D9E1F2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280160"/>
          <a:ext cx="6400800" cy="1170432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Phase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Action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Reason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F1F1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F1F1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ST04 work-element study + standard work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F1F1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Directly targets active throughput constraint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F1F1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F1F1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ST04 functional-test / fixture validation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F1F1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Addresses cycle and failure losses after initial evidence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F1F1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F1F1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ST02 sensor reliability program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F1F1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Protects newly released capacity and stabilizes robot handling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635240" y="128016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324D"/>
                </a:solidFill>
              </a:rPr>
              <a:t>Simulated Phase 1 business case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7635240" y="1737360"/>
            <a:ext cx="19202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1F1F"/>
                </a:solidFill>
              </a:rPr>
              <a:t>€15k</a:t>
            </a:r>
            <a:endParaRPr lang="en-US" sz="2100" dirty="0"/>
          </a:p>
        </p:txBody>
      </p:sp>
      <p:sp>
        <p:nvSpPr>
          <p:cNvPr id="5" name="Text 5"/>
          <p:cNvSpPr/>
          <p:nvPr/>
        </p:nvSpPr>
        <p:spPr>
          <a:xfrm>
            <a:off x="7635240" y="215798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1F1F"/>
                </a:solidFill>
              </a:rPr>
              <a:t>Implementation cost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9966960" y="1737360"/>
            <a:ext cx="17373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70AD47"/>
                </a:solidFill>
              </a:rPr>
              <a:t>€54.8k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9966960" y="215798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1F1F"/>
                </a:solidFill>
              </a:rPr>
              <a:t>Year-1 benefit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635240" y="2971800"/>
            <a:ext cx="19202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70AD47"/>
                </a:solidFill>
              </a:rPr>
              <a:t>265%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7635240" y="339242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1F1F"/>
                </a:solidFill>
              </a:rPr>
              <a:t>ROI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9966960" y="2971800"/>
            <a:ext cx="17373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D7D31"/>
                </a:solidFill>
              </a:rPr>
              <a:t>3.28 mo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9966960" y="339242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1F1F"/>
                </a:solidFill>
              </a:rPr>
              <a:t>Payback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85800" y="45720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324D"/>
                </a:solidFill>
              </a:rPr>
              <a:t>Final recommendation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85800" y="4937760"/>
            <a:ext cx="106070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F1F1F"/>
                </a:solidFill>
              </a:rPr>
              <a:t>Prioritize ST04 throughput improvement first. Treat ST02 as the next reliability workstream after ST04 capacity is released. All financial values are simulated portfolio assumptions.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502920" y="653796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77777"/>
                </a:solidFill>
              </a:rPr>
              <a:t>Synthetic portfolio case | Smart Factory Production Performance &amp; OEE Improvement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11475720" y="653796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77777"/>
                </a:solidFill>
              </a:rPr>
              <a:t>7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587</Words>
  <Application>Microsoft Office PowerPoint</Application>
  <PresentationFormat>Widescreen</PresentationFormat>
  <Paragraphs>154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NexaMotion Components GmbH (Synthetic)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Factory OEE Improvement</dc:title>
  <dc:subject>Smart Factory OEE Consulting Case</dc:subject>
  <dc:creator>OpenAI</dc:creator>
  <cp:lastModifiedBy>Munn, Munn (Stud SRH-University)</cp:lastModifiedBy>
  <cp:revision>2</cp:revision>
  <dcterms:created xsi:type="dcterms:W3CDTF">2026-09-19T08:27:38Z</dcterms:created>
  <dcterms:modified xsi:type="dcterms:W3CDTF">2026-09-19T08:36:59Z</dcterms:modified>
</cp:coreProperties>
</file>